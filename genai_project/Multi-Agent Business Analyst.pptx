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rudh R" userId="512ce59481005a03" providerId="LiveId" clId="{E3F8DE5C-A532-4536-83E0-76A33C12F468}"/>
    <pc:docChg chg="custSel delSld modSld">
      <pc:chgData name="Anirudh R" userId="512ce59481005a03" providerId="LiveId" clId="{E3F8DE5C-A532-4536-83E0-76A33C12F468}" dt="2026-08-08T19:31:57.591" v="29" actId="478"/>
      <pc:docMkLst>
        <pc:docMk/>
      </pc:docMkLst>
      <pc:sldChg chg="delSp modSp mod">
        <pc:chgData name="Anirudh R" userId="512ce59481005a03" providerId="LiveId" clId="{E3F8DE5C-A532-4536-83E0-76A33C12F468}" dt="2026-08-08T19:31:57.591" v="29" actId="478"/>
        <pc:sldMkLst>
          <pc:docMk/>
          <pc:sldMk cId="0" sldId="258"/>
        </pc:sldMkLst>
        <pc:spChg chg="mod">
          <ac:chgData name="Anirudh R" userId="512ce59481005a03" providerId="LiveId" clId="{E3F8DE5C-A532-4536-83E0-76A33C12F468}" dt="2026-08-08T19:31:50.567" v="28" actId="20577"/>
          <ac:spMkLst>
            <pc:docMk/>
            <pc:sldMk cId="0" sldId="258"/>
            <ac:spMk id="5" creationId="{00000000-0000-0000-0000-000000000000}"/>
          </ac:spMkLst>
        </pc:spChg>
        <pc:spChg chg="del">
          <ac:chgData name="Anirudh R" userId="512ce59481005a03" providerId="LiveId" clId="{E3F8DE5C-A532-4536-83E0-76A33C12F468}" dt="2026-08-08T19:31:57.591" v="29" actId="478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Anirudh R" userId="512ce59481005a03" providerId="LiveId" clId="{E3F8DE5C-A532-4536-83E0-76A33C12F468}" dt="2026-08-08T19:30:34.462" v="2" actId="20577"/>
        <pc:sldMkLst>
          <pc:docMk/>
          <pc:sldMk cId="0" sldId="265"/>
        </pc:sldMkLst>
        <pc:spChg chg="mod">
          <ac:chgData name="Anirudh R" userId="512ce59481005a03" providerId="LiveId" clId="{E3F8DE5C-A532-4536-83E0-76A33C12F468}" dt="2026-08-08T19:30:34.462" v="2" actId="20577"/>
          <ac:spMkLst>
            <pc:docMk/>
            <pc:sldMk cId="0" sldId="265"/>
            <ac:spMk id="5" creationId="{00000000-0000-0000-0000-000000000000}"/>
          </ac:spMkLst>
        </pc:spChg>
      </pc:sldChg>
      <pc:sldChg chg="del">
        <pc:chgData name="Anirudh R" userId="512ce59481005a03" providerId="LiveId" clId="{E3F8DE5C-A532-4536-83E0-76A33C12F468}" dt="2026-08-08T19:30:14.963" v="1" actId="2696"/>
        <pc:sldMkLst>
          <pc:docMk/>
          <pc:sldMk cId="0" sldId="267"/>
        </pc:sldMkLst>
      </pc:sldChg>
      <pc:sldChg chg="del">
        <pc:chgData name="Anirudh R" userId="512ce59481005a03" providerId="LiveId" clId="{E3F8DE5C-A532-4536-83E0-76A33C12F468}" dt="2026-08-08T19:29:54.140" v="0" actId="2696"/>
        <pc:sldMkLst>
          <pc:docMk/>
          <pc:sldMk cId="0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9A8C"/>
                </a:solidFill>
                <a:latin typeface="Calibri"/>
              </a:rPr>
              <a:t>GENERATIVE AI  ·  MTECH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Multi-Agent Business Analyst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29000"/>
            <a:ext cx="9509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9CED6"/>
                </a:solidFill>
                <a:latin typeface="Calibri"/>
              </a:rPr>
              <a:t>A team of nine specialist AI agents that read one company's data room
and answer a decision question — not “summarise this document”, but “should we do this?”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709160"/>
            <a:ext cx="1280160" cy="38100"/>
          </a:xfrm>
          <a:prstGeom prst="rect">
            <a:avLst/>
          </a:prstGeom>
          <a:solidFill>
            <a:srgbClr val="C2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Rangavajhala Anirudh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9AA1AC"/>
                </a:solidFill>
                <a:latin typeface="Calibri"/>
              </a:rPr>
              <a:t>24MDA067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412D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58952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1827"/>
                </a:solidFill>
                <a:latin typeface="Calibri"/>
              </a:rPr>
              <a:t>The problem is synthesis, not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05840" cy="38100"/>
          </a:xfrm>
          <a:prstGeom prst="rect">
            <a:avLst/>
          </a:prstGeom>
          <a:solidFill>
            <a:srgbClr val="C2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19072"/>
            <a:ext cx="58521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11827"/>
                </a:solidFill>
                <a:latin typeface="Calibri"/>
              </a:rPr>
              <a:t>A business analyst already has the data.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3F4655"/>
                </a:solidFill>
                <a:latin typeface="Calibri"/>
              </a:rPr>
              <a:t>Financial reports, CRM exports, support tickets, competitor trackers, market research. Finding information was never the bottleneck.</a:t>
            </a:r>
          </a:p>
          <a:p>
            <a:pPr algn="l">
              <a:spcBef>
                <a:spcPts val="1800"/>
              </a:spcBef>
              <a:spcAft>
                <a:spcPts val="0"/>
              </a:spcAft>
            </a:pPr>
            <a:r>
              <a:rPr sz="1700" b="1" i="0">
                <a:solidFill>
                  <a:srgbClr val="C2412D"/>
                </a:solidFill>
                <a:latin typeface="Calibri"/>
              </a:rPr>
              <a:t>The bottleneck is turning it into a decision.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3F4655"/>
                </a:solidFill>
                <a:latin typeface="Calibri"/>
              </a:rPr>
              <a:t>The answer to a real executive question is never inside one document — it lives in the tension between several. A margin decline in the income statement may really be a vendor problem in operations, surfacing as a complaint theme in support tickets.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1719072"/>
            <a:ext cx="4297680" cy="3108960"/>
          </a:xfrm>
          <a:prstGeom prst="round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56032" rIns="27432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7280"/>
                </a:solidFill>
                <a:latin typeface="Calibri"/>
              </a:rPr>
              <a:t>INSTEAD OF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700" b="0" i="1">
                <a:solidFill>
                  <a:srgbClr val="3F4655"/>
                </a:solidFill>
                <a:latin typeface="Calibri"/>
              </a:rPr>
              <a:t>“Summarise this PDF.”</a:t>
            </a:r>
          </a:p>
          <a:p>
            <a:pPr algn="l">
              <a:spcBef>
                <a:spcPts val="2200"/>
              </a:spcBef>
              <a:spcAft>
                <a:spcPts val="0"/>
              </a:spcAft>
            </a:pPr>
            <a:r>
              <a:rPr sz="1100" b="1" i="0">
                <a:solidFill>
                  <a:srgbClr val="C2412D"/>
                </a:solidFill>
                <a:latin typeface="Calibri"/>
              </a:rPr>
              <a:t>USERS ASK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Calibri"/>
              </a:rPr>
              <a:t>“Why did profit decline?”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Calibri"/>
              </a:rPr>
              <a:t>“Should we expand into Southeast Asia?”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Calibri"/>
              </a:rPr>
              <a:t>“Which products should we discontinue?”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Calibri"/>
              </a:rPr>
              <a:t>“What are our biggest risks?”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412D"/>
                </a:solidFill>
                <a:latin typeface="Calibri"/>
              </a:rPr>
              <a:t>WHAT THE AGENTS CAN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58952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1827"/>
                </a:solidFill>
                <a:latin typeface="Calibri"/>
              </a:rPr>
              <a:t>The data room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05840" cy="38100"/>
          </a:xfrm>
          <a:prstGeom prst="rect">
            <a:avLst/>
          </a:prstGeom>
          <a:solidFill>
            <a:srgbClr val="C2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19072"/>
            <a:ext cx="10637215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dirty="0">
                <a:solidFill>
                  <a:srgbClr val="3F4655"/>
                </a:solidFill>
                <a:latin typeface="Calibri"/>
              </a:rPr>
              <a:t>17 files describing </a:t>
            </a:r>
            <a:r>
              <a:rPr lang="en-US" sz="1500" dirty="0">
                <a:solidFill>
                  <a:srgbClr val="3F4655"/>
                </a:solidFill>
                <a:latin typeface="Calibri"/>
              </a:rPr>
              <a:t>a</a:t>
            </a:r>
            <a:r>
              <a:rPr sz="1500" b="0" i="0" dirty="0">
                <a:solidFill>
                  <a:srgbClr val="3F4655"/>
                </a:solidFill>
                <a:latin typeface="Calibri"/>
              </a:rPr>
              <a:t> consumer-audio company with a deliberately diagnosable problem: revenue growing while margin and cash quietly deteriorate.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404872"/>
          <a:ext cx="1063447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marR="73152" marT="27432" marB="27432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Files</a:t>
                      </a:r>
                    </a:p>
                  </a:txBody>
                  <a:tcPr marR="73152" marT="27432" marB="27432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R="73152" marT="27432" marB="27432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Handled by</a:t>
                      </a:r>
                    </a:p>
                  </a:txBody>
                  <a:tcPr marR="73152" marT="27432" marB="27432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F4655"/>
                          </a:solidFill>
                          <a:latin typeface="Calibri"/>
                        </a:rPr>
                        <a:t>Finance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F4655"/>
                          </a:solidFill>
                          <a:latin typeface="Calibri"/>
                        </a:rPr>
                        <a:t>income statement · balance sheet · cash flow · budget vs actual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F4655"/>
                          </a:solidFill>
                          <a:latin typeface="Calibri"/>
                        </a:rPr>
                        <a:t>CSV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F4655"/>
                          </a:solidFill>
                          <a:latin typeface="Calibri"/>
                        </a:rPr>
                        <a:t>Computed in code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F4655"/>
                          </a:solidFill>
                          <a:latin typeface="Calibri"/>
                        </a:rPr>
                        <a:t>Sales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F4655"/>
                          </a:solidFill>
                          <a:latin typeface="Calibri"/>
                        </a:rPr>
                        <a:t>orders · CRM pipeline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F4655"/>
                          </a:solidFill>
                          <a:latin typeface="Calibri"/>
                        </a:rPr>
                        <a:t>CSV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F4655"/>
                          </a:solidFill>
                          <a:latin typeface="Calibri"/>
                        </a:rPr>
                        <a:t>Computed in code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F4655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F4655"/>
                          </a:solidFill>
                          <a:latin typeface="Calibri"/>
                        </a:rPr>
                        <a:t>reviews · support tickets · surveys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F4655"/>
                          </a:solidFill>
                          <a:latin typeface="Calibri"/>
                        </a:rPr>
                        <a:t>CSV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F4655"/>
                          </a:solidFill>
                          <a:latin typeface="Calibri"/>
                        </a:rPr>
                        <a:t>Computed in code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F4655"/>
                          </a:solidFill>
                          <a:latin typeface="Calibri"/>
                        </a:rPr>
                        <a:t>Operations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F4655"/>
                          </a:solidFill>
                          <a:latin typeface="Calibri"/>
                        </a:rPr>
                        <a:t>inventory · vendors · shipments · production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F4655"/>
                          </a:solidFill>
                          <a:latin typeface="Calibri"/>
                        </a:rPr>
                        <a:t>CSV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F4655"/>
                          </a:solidFill>
                          <a:latin typeface="Calibri"/>
                        </a:rPr>
                        <a:t>Computed in code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F4655"/>
                          </a:solidFill>
                          <a:latin typeface="Calibri"/>
                        </a:rPr>
                        <a:t>Market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F4655"/>
                          </a:solidFill>
                          <a:latin typeface="Calibri"/>
                        </a:rPr>
                        <a:t>news feed · competitor tracker · industry research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F4655"/>
                          </a:solidFill>
                          <a:latin typeface="Calibri"/>
                        </a:rPr>
                        <a:t>Markdown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F4655"/>
                          </a:solidFill>
                          <a:latin typeface="Calibri"/>
                        </a:rPr>
                        <a:t>Hybrid retrieval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412D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58952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1827"/>
                </a:solidFill>
                <a:latin typeface="Calibri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05840" cy="38100"/>
          </a:xfrm>
          <a:prstGeom prst="rect">
            <a:avLst/>
          </a:prstGeom>
          <a:solidFill>
            <a:srgbClr val="C2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993184" y="1645920"/>
            <a:ext cx="4206240" cy="512064"/>
          </a:xfrm>
          <a:prstGeom prst="round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EVIDENCE PREPARATION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numbers computed in code  ·  passages retrieved  —  no AI</a:t>
            </a:r>
          </a:p>
        </p:txBody>
      </p:sp>
      <p:sp>
        <p:nvSpPr>
          <p:cNvPr id="6" name="Down Arrow 5"/>
          <p:cNvSpPr/>
          <p:nvPr/>
        </p:nvSpPr>
        <p:spPr>
          <a:xfrm>
            <a:off x="6014008" y="2212848"/>
            <a:ext cx="164592" cy="164592"/>
          </a:xfrm>
          <a:prstGeom prst="downArrow">
            <a:avLst/>
          </a:prstGeom>
          <a:solidFill>
            <a:srgbClr val="B8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993184" y="2432304"/>
            <a:ext cx="4206240" cy="512064"/>
          </a:xfrm>
          <a:prstGeom prst="roundRect">
            <a:avLst/>
          </a:prstGeom>
          <a:solidFill>
            <a:srgbClr val="F6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C2412D"/>
                </a:solidFill>
                <a:latin typeface="Calibri"/>
              </a:rPr>
              <a:t>PLANNER AGENT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restates the decision · assigns work · drops irrelevant agents</a:t>
            </a:r>
          </a:p>
        </p:txBody>
      </p:sp>
      <p:sp>
        <p:nvSpPr>
          <p:cNvPr id="8" name="Down Arrow 7"/>
          <p:cNvSpPr/>
          <p:nvPr/>
        </p:nvSpPr>
        <p:spPr>
          <a:xfrm>
            <a:off x="6014008" y="2999232"/>
            <a:ext cx="164592" cy="164592"/>
          </a:xfrm>
          <a:prstGeom prst="downArrow">
            <a:avLst/>
          </a:prstGeom>
          <a:solidFill>
            <a:srgbClr val="B8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8796" y="3218688"/>
            <a:ext cx="1965960" cy="512064"/>
          </a:xfrm>
          <a:prstGeom prst="round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Finance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1060" y="3218688"/>
            <a:ext cx="1965960" cy="512064"/>
          </a:xfrm>
          <a:prstGeom prst="round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Sales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3324" y="3218688"/>
            <a:ext cx="1965960" cy="512064"/>
          </a:xfrm>
          <a:prstGeom prst="round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Customer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5588" y="3218688"/>
            <a:ext cx="1965960" cy="512064"/>
          </a:xfrm>
          <a:prstGeom prst="round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Market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7852" y="3218688"/>
            <a:ext cx="1965960" cy="512064"/>
          </a:xfrm>
          <a:prstGeom prst="round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1063721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B7280"/>
                </a:solidFill>
                <a:latin typeface="Calibri"/>
              </a:rPr>
              <a:t>five specialists run concurrently — one model call each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014008" y="4023360"/>
            <a:ext cx="164592" cy="164592"/>
          </a:xfrm>
          <a:prstGeom prst="downArrow">
            <a:avLst/>
          </a:prstGeom>
          <a:solidFill>
            <a:srgbClr val="B8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993184" y="4206240"/>
            <a:ext cx="4206240" cy="512064"/>
          </a:xfrm>
          <a:prstGeom prst="round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RISK AGENT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sees every finding at once · likelihood × impact · compound risks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014008" y="4773168"/>
            <a:ext cx="164592" cy="164592"/>
          </a:xfrm>
          <a:prstGeom prst="downArrow">
            <a:avLst/>
          </a:prstGeom>
          <a:solidFill>
            <a:srgbClr val="B8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993184" y="4992624"/>
            <a:ext cx="4206240" cy="512064"/>
          </a:xfrm>
          <a:prstGeom prst="roundRect">
            <a:avLst/>
          </a:prstGeom>
          <a:solidFill>
            <a:srgbClr val="F6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C2412D"/>
                </a:solidFill>
                <a:latin typeface="Calibri"/>
              </a:rPr>
              <a:t>STRATEGY AGENT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commits to a recommendation · steelmans the case against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014008" y="5559552"/>
            <a:ext cx="164592" cy="164592"/>
          </a:xfrm>
          <a:prstGeom prst="downArrow">
            <a:avLst/>
          </a:prstGeom>
          <a:solidFill>
            <a:srgbClr val="B8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993184" y="5779008"/>
            <a:ext cx="4206240" cy="512064"/>
          </a:xfrm>
          <a:prstGeom prst="roundRect">
            <a:avLst/>
          </a:prstGeom>
          <a:solidFill>
            <a:srgbClr val="E6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6F54"/>
                </a:solidFill>
                <a:latin typeface="Calibri"/>
              </a:rPr>
              <a:t>EXECUTIVE REPORT  →  EVALUATOR (LLM-as-judge)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rendered in code, then graded against the evidence it was built from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419088"/>
            <a:ext cx="106372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280"/>
                </a:solidFill>
                <a:latin typeface="Calibri"/>
              </a:rPr>
              <a:t>9 model calls  ·  ~$0.23  ·  ~3 minutes per full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412D"/>
                </a:solidFill>
                <a:latin typeface="Calibri"/>
              </a:rPr>
              <a:t>NINE SPECIALISTS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58952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1827"/>
                </a:solidFill>
                <a:latin typeface="Calibri"/>
              </a:rPr>
              <a:t>The agent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05840" cy="38100"/>
          </a:xfrm>
          <a:prstGeom prst="rect">
            <a:avLst/>
          </a:prstGeom>
          <a:solidFill>
            <a:srgbClr val="C2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19072"/>
          <a:ext cx="10634472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R="73152" marT="27432" marB="27432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marR="73152" marT="27432" marB="27432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Reads</a:t>
                      </a:r>
                    </a:p>
                  </a:txBody>
                  <a:tcPr marR="73152" marT="27432" marB="27432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Produces</a:t>
                      </a:r>
                    </a:p>
                  </a:txBody>
                  <a:tcPr marR="73152" marT="27432" marB="27432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Planner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The question + a data-room inventory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Restated decision, sub-questions, assignments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Finance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Income statement, balance sheet, cash flow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Margin trends, cash conversion, the driving line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Sales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Orders, CRM pipeline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Regional/product mix shifts, ASP vs volume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Reviews, tickets, surveys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Complaint clusters by frequency and severity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Market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News, competitors, industry research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Competitor moves, regulation, growth rates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Operations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Inventory, vendors, shipments, production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Vendor concentration, delays, stock cover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Every specialist's findings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Risks scored likelihood × impact, mitigations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Everything + the risk assessment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The recommendation, counter-arguments, plan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Evaluator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The report + the evidence behind it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F4655"/>
                          </a:solidFill>
                          <a:latin typeface="Calibri"/>
                        </a:rPr>
                        <a:t>An independent grade and unsupported claims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412D"/>
                </a:solidFill>
                <a:latin typeface="Calibri"/>
              </a:rPr>
              <a:t>DESIGN DECISION  1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58952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1827"/>
                </a:solidFill>
                <a:latin typeface="Calibri"/>
              </a:rPr>
              <a:t>Agents never do arithmetic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05840" cy="38100"/>
          </a:xfrm>
          <a:prstGeom prst="rect">
            <a:avLst/>
          </a:prstGeom>
          <a:solidFill>
            <a:srgbClr val="C2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19072"/>
            <a:ext cx="57607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11827"/>
                </a:solidFill>
                <a:latin typeface="Calibri"/>
              </a:rPr>
              <a:t>Language models are unreliable at arithmetic over a table — so they are never asked to do it.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3F4655"/>
                </a:solidFill>
                <a:latin typeface="Calibri"/>
              </a:rPr>
              <a:t>Before any agent runs, ordinary Python code reads the CSVs and computes every figure: growth rates, margin bridges, days of inventory cover, complaint frequencies, concentration ratios, forecasts.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3F4655"/>
                </a:solidFill>
                <a:latin typeface="Calibri"/>
              </a:rPr>
              <a:t>The agent receives a finished briefing of numbers. Its job is interpretation, never calculation.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C2412D"/>
                </a:solidFill>
                <a:latin typeface="Calibri"/>
              </a:rPr>
              <a:t>This is what makes the output auditable: every figure traces to code you can read, not to a model that might have approximated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1719072"/>
            <a:ext cx="4389120" cy="3291840"/>
          </a:xfrm>
          <a:prstGeom prst="roundRect">
            <a:avLst/>
          </a:prstGeom>
          <a:solidFill>
            <a:srgbClr val="E6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56032" rIns="27432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1F6F54"/>
                </a:solidFill>
                <a:latin typeface="Calibri"/>
              </a:rPr>
              <a:t>VERIFIED BY HAND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 i="0" dirty="0">
                <a:solidFill>
                  <a:srgbClr val="3F4655"/>
                </a:solidFill>
                <a:latin typeface="Calibri"/>
              </a:rPr>
              <a:t>Every headline figure in the report was recomputed independently from the raw CSVs: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111827"/>
                </a:solidFill>
                <a:latin typeface="Calibri"/>
              </a:rPr>
              <a:t>✓  Revenue $56.41M, +19.1%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111827"/>
                </a:solidFill>
                <a:latin typeface="Calibri"/>
              </a:rPr>
              <a:t>✓  Gross margin 40.7% (from 41.9%)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111827"/>
                </a:solidFill>
                <a:latin typeface="Calibri"/>
              </a:rPr>
              <a:t>✓  Net income $1.12M, −46.2%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111827"/>
                </a:solidFill>
                <a:latin typeface="Calibri"/>
              </a:rPr>
              <a:t>✓  Logistics $3.07M, 7.0% of June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111827"/>
                </a:solidFill>
                <a:latin typeface="Calibri"/>
              </a:rPr>
              <a:t>✓  Free cash flow −$1.02M vs +$1.45M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111827"/>
                </a:solidFill>
                <a:latin typeface="Calibri"/>
              </a:rPr>
              <a:t>✓  SE Asia $7.99M TTM, +24.2%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400" b="1" i="0" dirty="0">
                <a:solidFill>
                  <a:srgbClr val="1F6F54"/>
                </a:solidFill>
                <a:latin typeface="Calibri"/>
              </a:rPr>
              <a:t>Every figure checked matched exactly.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412D"/>
                </a:solidFill>
                <a:latin typeface="Calibri"/>
              </a:rPr>
              <a:t>DESIGN DECISION  2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58952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1827"/>
                </a:solidFill>
                <a:latin typeface="Calibri"/>
              </a:rPr>
              <a:t>Hybrid retrieval over the documents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05840" cy="38100"/>
          </a:xfrm>
          <a:prstGeom prst="rect">
            <a:avLst/>
          </a:prstGeom>
          <a:solidFill>
            <a:srgbClr val="C2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19072"/>
            <a:ext cx="10637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F4655"/>
                </a:solidFill>
                <a:latin typeface="Calibri"/>
              </a:rPr>
              <a:t>The market documents are prose — too long to paste into every prompt, and mostly irrelevant to any one question. So passages are retrieved against the question actually being asked.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50592"/>
            <a:ext cx="5120640" cy="1371600"/>
          </a:xfrm>
          <a:prstGeom prst="round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D4E89"/>
                </a:solidFill>
                <a:latin typeface="Calibri"/>
              </a:rPr>
              <a:t>BM25  —  lexical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 i="0">
                <a:solidFill>
                  <a:srgbClr val="3F4655"/>
                </a:solidFill>
                <a:latin typeface="Calibri"/>
              </a:rPr>
              <a:t>Matches exact terms. Ask about “Vietnam” and it finds the passage that says Vietnam.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200" b="0" i="1">
                <a:solidFill>
                  <a:srgbClr val="6B7280"/>
                </a:solidFill>
                <a:latin typeface="Calibri"/>
              </a:rPr>
              <a:t>Misses paraphrase.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450592"/>
            <a:ext cx="5166360" cy="1371600"/>
          </a:xfrm>
          <a:prstGeom prst="round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412D"/>
                </a:solidFill>
                <a:latin typeface="Calibri"/>
              </a:rPr>
              <a:t>LSA / SVD  —  dense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 i="0">
                <a:solidFill>
                  <a:srgbClr val="3F4655"/>
                </a:solidFill>
                <a:latin typeface="Calibri"/>
              </a:rPr>
              <a:t>Matches meaning. Connects “Southeast Asia” to a passage about Vietnam and Indonesia that never uses the phrase.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200" b="0" i="1">
                <a:solidFill>
                  <a:srgbClr val="6B7280"/>
                </a:solidFill>
                <a:latin typeface="Calibri"/>
              </a:rPr>
              <a:t>Misses rare proper nouns.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4050792"/>
            <a:ext cx="5852160" cy="566928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RECIPROCAL RANK FUSION</a:t>
            </a:r>
          </a:p>
          <a:p>
            <a:pPr algn="ctr"/>
            <a:r>
              <a:rPr sz="1000">
                <a:solidFill>
                  <a:srgbClr val="A8B0BC"/>
                </a:solidFill>
                <a:latin typeface="Calibri"/>
              </a:rPr>
              <a:t>ranks are the only scale the two retrievers 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1063721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Calibri"/>
              </a:rPr>
              <a:t>Why fuse ranks rather than scores?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400" b="0" i="0">
                <a:solidFill>
                  <a:srgbClr val="3F4655"/>
                </a:solidFill>
                <a:latin typeface="Calibri"/>
              </a:rPr>
              <a:t>BM25 scores are unbounded; cosine similarities live in [−1, 1]. Adding them would be meaningless. Ranks are comparable, so the two lists are merged by rank position.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300" b="0" i="0">
                <a:solidFill>
                  <a:srgbClr val="C2412D"/>
                </a:solidFill>
                <a:latin typeface="Calibri"/>
              </a:rPr>
              <a:t>Honest caveat:  the dense half is LSA fitted on this corpus, not a pretrained neural encoder. That bridges vocabulary gaps within the data room, which is BM25's real weakness here — but it is not a substitute for a real embedding model on open-domain 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412D"/>
                </a:solidFill>
                <a:latin typeface="Calibri"/>
              </a:rPr>
              <a:t>DESIGN DECISION  3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58952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1827"/>
                </a:solidFill>
                <a:latin typeface="Calibri"/>
              </a:rPr>
              <a:t>Agents hand each other typed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05840" cy="38100"/>
          </a:xfrm>
          <a:prstGeom prst="rect">
            <a:avLst/>
          </a:prstGeom>
          <a:solidFill>
            <a:srgbClr val="C2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19072"/>
            <a:ext cx="57607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11827"/>
                </a:solidFill>
                <a:latin typeface="Calibri"/>
              </a:rPr>
              <a:t>Never prose.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3F4655"/>
                </a:solidFill>
                <a:latin typeface="Calibri"/>
              </a:rPr>
              <a:t>Every agent returns JSON validated against a fixed schema at the API boundary, so malformed output is impossible rather than merely caught.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3F4655"/>
                </a:solidFill>
                <a:latin typeface="Calibri"/>
              </a:rPr>
              <a:t>The Risk Agent therefore receives structured findings it can sort and score — it never has to re-parse paragraphs, and the report renderer never has to guess.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3F4655"/>
                </a:solidFill>
                <a:latin typeface="Calibri"/>
              </a:rPr>
              <a:t>Numeric ranges are then clamped in code, because the schema format can express shape but not bounds — a model is otherwise free to return a confidence of 250.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1719072"/>
            <a:ext cx="4389120" cy="3200400"/>
          </a:xfrm>
          <a:prstGeom prst="round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56032" rIns="27432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412D"/>
                </a:solidFill>
                <a:latin typeface="Calibri"/>
              </a:rPr>
              <a:t>WHAT EACH AGENT MUST RETURN</a:t>
            </a:r>
          </a:p>
          <a:p>
            <a:pPr>
              <a:spcBef>
                <a:spcPts val="900"/>
              </a:spcBef>
            </a:pPr>
            <a:r>
              <a:rPr sz="1300" b="1">
                <a:solidFill>
                  <a:srgbClr val="111827"/>
                </a:solidFill>
                <a:latin typeface="Calibri"/>
              </a:rPr>
              <a:t>Specialists  </a:t>
            </a:r>
            <a:r>
              <a:rPr sz="1200">
                <a:solidFill>
                  <a:srgbClr val="3F4655"/>
                </a:solidFill>
                <a:latin typeface="Calibri"/>
              </a:rPr>
              <a:t>headline · findings (metric, direction, impact, evidence) · risks · opportunities · data gaps · confidence</a:t>
            </a:r>
          </a:p>
          <a:p>
            <a:pPr>
              <a:spcBef>
                <a:spcPts val="900"/>
              </a:spcBef>
            </a:pPr>
            <a:r>
              <a:rPr sz="1300" b="1">
                <a:solidFill>
                  <a:srgbClr val="111827"/>
                </a:solidFill>
                <a:latin typeface="Calibri"/>
              </a:rPr>
              <a:t>Risk  </a:t>
            </a:r>
            <a:r>
              <a:rPr sz="1200">
                <a:solidFill>
                  <a:srgbClr val="3F4655"/>
                </a:solidFill>
                <a:latin typeface="Calibri"/>
              </a:rPr>
              <a:t>risks (category, likelihood 1-5, impact 1-5, mechanism, mitigation, early warning) · category scores · deal breakers</a:t>
            </a:r>
          </a:p>
          <a:p>
            <a:pPr>
              <a:spcBef>
                <a:spcPts val="900"/>
              </a:spcBef>
            </a:pPr>
            <a:r>
              <a:rPr sz="1300" b="1">
                <a:solidFill>
                  <a:srgbClr val="111827"/>
                </a:solidFill>
                <a:latin typeface="Calibri"/>
              </a:rPr>
              <a:t>Strategy  </a:t>
            </a:r>
            <a:r>
              <a:rPr sz="1200">
                <a:solidFill>
                  <a:srgbClr val="3F4655"/>
                </a:solidFill>
                <a:latin typeface="Calibri"/>
              </a:rPr>
              <a:t>decision (go / conditional / hold / no-go) · weighted reasons · counter-arguments · action plan · confidence</a:t>
            </a:r>
          </a:p>
          <a:p>
            <a:pPr>
              <a:spcBef>
                <a:spcPts val="900"/>
              </a:spcBef>
            </a:pPr>
            <a:r>
              <a:rPr sz="1300" b="1">
                <a:solidFill>
                  <a:srgbClr val="111827"/>
                </a:solidFill>
                <a:latin typeface="Calibri"/>
              </a:rPr>
              <a:t>Evaluator  </a:t>
            </a:r>
            <a:r>
              <a:rPr sz="1200">
                <a:solidFill>
                  <a:srgbClr val="3F4655"/>
                </a:solidFill>
                <a:latin typeface="Calibri"/>
              </a:rPr>
              <a:t>five criterion scores · unsupported claims · verdict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412D"/>
                </a:solidFill>
                <a:latin typeface="Calibri"/>
              </a:rPr>
              <a:t>RESULT  ·  LIVE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58952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1827"/>
                </a:solidFill>
                <a:latin typeface="Calibri"/>
              </a:rPr>
              <a:t>The agents disagreed — and that is the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05840" cy="38100"/>
          </a:xfrm>
          <a:prstGeom prst="rect">
            <a:avLst/>
          </a:prstGeom>
          <a:solidFill>
            <a:srgbClr val="C2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19072"/>
            <a:ext cx="106372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Calibri"/>
              </a:rPr>
              <a:t>Question:  “Should we expand into Southeast Asia next year?”   —   fresh run, cache disabled, all five specialists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267712"/>
          <a:ext cx="10634471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marR="73152" marT="27432" marB="27432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 marR="73152" marT="27432" marB="27432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R="73152" marT="27432" marB="27432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F4655"/>
                          </a:solidFill>
                          <a:latin typeface="Calibri"/>
                        </a:rPr>
                        <a:t>Market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F4655"/>
                          </a:solidFill>
                          <a:latin typeface="Calibri"/>
                        </a:rPr>
                        <a:t>Attractive entry market on 17.8% projected CAGR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F4655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F4655"/>
                          </a:solidFill>
                          <a:latin typeface="Calibri"/>
                        </a:rPr>
                        <a:t>Sales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F4655"/>
                          </a:solidFill>
                          <a:latin typeface="Calibri"/>
                        </a:rPr>
                        <a:t>Real demand — $7.99M TTM revenue, growing 24.2%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F4655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F4655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F4655"/>
                          </a:solidFill>
                          <a:latin typeface="Calibri"/>
                        </a:rPr>
                        <a:t>Strongest advocacy of any region (+55 NPS)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F4655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F4655"/>
                          </a:solidFill>
                          <a:latin typeface="Calibri"/>
                        </a:rPr>
                        <a:t>Finance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F4655"/>
                          </a:solidFill>
                          <a:latin typeface="Calibri"/>
                        </a:rPr>
                        <a:t>Margins, logistics and cash will not carry a broad launch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F4655"/>
                          </a:solidFill>
                          <a:latin typeface="Calibri"/>
                        </a:rPr>
                        <a:t>WAIT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F4655"/>
                          </a:solidFill>
                          <a:latin typeface="Calibri"/>
                        </a:rPr>
                        <a:t>Operations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F4655"/>
                          </a:solidFill>
                          <a:latin typeface="Calibri"/>
                        </a:rPr>
                        <a:t>Only 29 days of Pulse cover; worsening inbound delays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F4655"/>
                          </a:solidFill>
                          <a:latin typeface="Calibri"/>
                        </a:rPr>
                        <a:t>WAIT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4782312"/>
            <a:ext cx="10637215" cy="1325880"/>
          </a:xfrm>
          <a:prstGeom prst="roundRect">
            <a:avLst/>
          </a:prstGeom>
          <a:solidFill>
            <a:srgbClr val="F6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01168" rIns="3200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412D"/>
                </a:solidFill>
                <a:latin typeface="Calibri"/>
              </a:rPr>
              <a:t>THE STRATEGY AGENT DID NOT AVERAGE THE DISAGREEMENT AWAY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900" b="1" i="0">
                <a:solidFill>
                  <a:srgbClr val="111827"/>
                </a:solidFill>
                <a:latin typeface="Calibri"/>
              </a:rPr>
              <a:t>“Authorize a ring-fenced, single-country, partner-led Nimbus Pulse Pro pilot.”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3F4655"/>
                </a:solidFill>
                <a:latin typeface="Calibri"/>
              </a:rPr>
              <a:t>It captured the demand Sales found while respecting the constraints Finance and Operations raised — a resolution no single agent proposed.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412D"/>
                </a:solidFill>
                <a:latin typeface="Calibri"/>
              </a:rPr>
              <a:t>QUALITY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58952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1827"/>
                </a:solidFill>
                <a:latin typeface="Calibri"/>
              </a:rPr>
              <a:t>An independent judge grades the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05840" cy="38100"/>
          </a:xfrm>
          <a:prstGeom prst="rect">
            <a:avLst/>
          </a:prstGeom>
          <a:solidFill>
            <a:srgbClr val="C2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19072"/>
            <a:ext cx="5760720" cy="24263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dirty="0">
                <a:solidFill>
                  <a:srgbClr val="3F4655"/>
                </a:solidFill>
                <a:latin typeface="Calibri"/>
              </a:rPr>
              <a:t>A report that reads beautifully and cites a number that does not exist is the characteristic failure of these systems — and it is invisible to anyone who has not read the source data.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 i="0" dirty="0">
                <a:solidFill>
                  <a:srgbClr val="3F4655"/>
                </a:solidFill>
                <a:latin typeface="Calibri"/>
              </a:rPr>
              <a:t>So a ninth agent receives the finished report plus the exact evidence the specialists saw, and grades it on five criteria, listing every claim the evidence does not support.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 i="0" dirty="0">
                <a:solidFill>
                  <a:srgbClr val="3F4655"/>
                </a:solidFill>
                <a:latin typeface="Calibri"/>
              </a:rPr>
              <a:t>It is deliberately not bound by the same instructions as the analysts — it is checking whether those rules were followed, so it must not share their framing.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1719072"/>
            <a:ext cx="4389120" cy="3291840"/>
          </a:xfrm>
          <a:prstGeom prst="round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56032" rIns="27432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412D"/>
                </a:solidFill>
                <a:latin typeface="Calibri"/>
              </a:rPr>
              <a:t>IT EARNS ITS PLACE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3F4655"/>
                </a:solidFill>
                <a:latin typeface="Calibri"/>
              </a:rPr>
              <a:t>Caught a factual error the specialists made: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Calibri"/>
              </a:rPr>
              <a:t>“five are below reorder points” — contradicted by the evidence; only two are.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300" b="0" i="0">
                <a:solidFill>
                  <a:srgbClr val="3F4655"/>
                </a:solidFill>
                <a:latin typeface="Calibri"/>
              </a:rPr>
              <a:t>Rejected causal overreach: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Calibri"/>
              </a:rPr>
              <a:t>“a higher list price does not establish that shifting away from Wave reduced profit” — no contribution margins in the data.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But accepts figures the report derived by arithmetic — an earlier prompt flagged every computed growth rate as unsupported, which made the judge useless.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412D"/>
                </a:solidFill>
                <a:latin typeface="Calibri"/>
              </a:rPr>
              <a:t>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58952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1827"/>
                </a:solidFill>
                <a:latin typeface="Calibri"/>
              </a:rPr>
              <a:t>Tech choices — and what was deliberately avoided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05840" cy="38100"/>
          </a:xfrm>
          <a:prstGeom prst="rect">
            <a:avLst/>
          </a:prstGeom>
          <a:solidFill>
            <a:srgbClr val="C2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19072"/>
          <a:ext cx="10634472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R="73152" marT="27432" marB="27432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Used</a:t>
                      </a:r>
                    </a:p>
                  </a:txBody>
                  <a:tcPr marR="73152" marT="27432" marB="27432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Instead of</a:t>
                      </a:r>
                    </a:p>
                  </a:txBody>
                  <a:tcPr marR="73152" marT="27432" marB="27432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R="73152" marT="27432" marB="27432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F4655"/>
                          </a:solidFill>
                          <a:latin typeface="Calibri"/>
                        </a:rPr>
                        <a:t>Orchestration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F4655"/>
                          </a:solidFill>
                          <a:latin typeface="Calibri"/>
                        </a:rPr>
                        <a:t>~330 lines of explicit graph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F4655"/>
                          </a:solidFill>
                          <a:latin typeface="Calibri"/>
                        </a:rPr>
                        <a:t>LangGraph, CrewAI, AutoGen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F4655"/>
                          </a:solidFill>
                          <a:latin typeface="Calibri"/>
                        </a:rPr>
                        <a:t>Control flow is fixed; a framework that reasons about edges buys nothing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F4655"/>
                          </a:solidFill>
                          <a:latin typeface="Calibri"/>
                        </a:rPr>
                        <a:t>Retrieval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F4655"/>
                          </a:solidFill>
                          <a:latin typeface="Calibri"/>
                        </a:rPr>
                        <a:t>BM25 + numpy SVD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F4655"/>
                          </a:solidFill>
                          <a:latin typeface="Calibri"/>
                        </a:rPr>
                        <a:t>FAISS, Chroma, Pinecone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F4655"/>
                          </a:solidFill>
                          <a:latin typeface="Calibri"/>
                        </a:rPr>
                        <a:t>23 passages. The index rebuilds in milliseconds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F4655"/>
                          </a:solidFill>
                          <a:latin typeface="Calibri"/>
                        </a:rPr>
                        <a:t>Numbers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F4655"/>
                          </a:solidFill>
                          <a:latin typeface="Calibri"/>
                        </a:rPr>
                        <a:t>stdlib csv + statistics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F4655"/>
                          </a:solidFill>
                          <a:latin typeface="Calibri"/>
                        </a:rPr>
                        <a:t>pandas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F4655"/>
                          </a:solidFill>
                          <a:latin typeface="Calibri"/>
                        </a:rPr>
                        <a:t>Every figure computed in code you can read, no hidden rounding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F4655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F4655"/>
                          </a:solidFill>
                          <a:latin typeface="Calibri"/>
                        </a:rPr>
                        <a:t>Provider-native strict schemas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F4655"/>
                          </a:solidFill>
                          <a:latin typeface="Calibri"/>
                        </a:rPr>
                        <a:t>Pydantic parsing + retries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F4655"/>
                          </a:solidFill>
                          <a:latin typeface="Calibri"/>
                        </a:rPr>
                        <a:t>Malformed output becomes impossible, not merely caught</a:t>
                      </a:r>
                    </a:p>
                  </a:txBody>
                  <a:tcPr marR="73152" marT="27432" marB="27432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F4655"/>
                          </a:solidFill>
                          <a:latin typeface="Calibri"/>
                        </a:rPr>
                        <a:t>Evaluation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F4655"/>
                          </a:solidFill>
                          <a:latin typeface="Calibri"/>
                        </a:rPr>
                        <a:t>LLM-as-judge over real evidence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F4655"/>
                          </a:solidFill>
                          <a:latin typeface="Calibri"/>
                        </a:rPr>
                        <a:t>RAGAS, DeepEval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F4655"/>
                          </a:solidFill>
                          <a:latin typeface="Calibri"/>
                        </a:rPr>
                        <a:t>There is no reference answer for “should we expand?”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422392"/>
            <a:ext cx="10637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412D"/>
                </a:solidFill>
                <a:latin typeface="Calibri"/>
              </a:rPr>
              <a:t>Every omission is argued, not accidental. The dependency list is three packages: openai, streamlit, numpy.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412D"/>
                </a:solidFill>
                <a:latin typeface="Calibri"/>
              </a:rP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58952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1827"/>
                </a:solidFill>
                <a:latin typeface="Calibri"/>
              </a:rPr>
              <a:t>What one analysis costs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05840" cy="38100"/>
          </a:xfrm>
          <a:prstGeom prst="rect">
            <a:avLst/>
          </a:prstGeom>
          <a:solidFill>
            <a:srgbClr val="C2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719072"/>
            <a:ext cx="2514600" cy="2148840"/>
          </a:xfrm>
          <a:prstGeom prst="round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2412D"/>
                </a:solidFill>
                <a:latin typeface="Calibri"/>
              </a:rPr>
              <a:t>9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Calibri"/>
              </a:rPr>
              <a:t>model calls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1 planner + 5 specialists
+ risk + strategy + judge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57016" y="1719072"/>
            <a:ext cx="2514600" cy="2148840"/>
          </a:xfrm>
          <a:prstGeom prst="round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2412D"/>
                </a:solidFill>
                <a:latin typeface="Calibri"/>
              </a:rPr>
              <a:t>$0.23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Calibri"/>
              </a:rPr>
              <a:t>per full analysis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48,747 tokens in
30,849 tokens 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6792" y="1719072"/>
            <a:ext cx="2514600" cy="2148840"/>
          </a:xfrm>
          <a:prstGeom prst="round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2412D"/>
                </a:solidFill>
                <a:latin typeface="Calibri"/>
              </a:rPr>
              <a:t>177s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Calibri"/>
              </a:rPr>
              <a:t>wall clock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five specialists run
concurrently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16568" y="1719072"/>
            <a:ext cx="2514600" cy="2148840"/>
          </a:xfrm>
          <a:prstGeom prst="round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2412D"/>
                </a:solidFill>
                <a:latin typeface="Calibri"/>
              </a:rPr>
              <a:t>free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Calibri"/>
              </a:rPr>
              <a:t>to re-ask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served from the
on-disk cache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33672"/>
            <a:ext cx="1063721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827"/>
                </a:solidFill>
                <a:latin typeface="Calibri"/>
              </a:rPr>
              <a:t>Where the cost goes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0" i="0">
                <a:solidFill>
                  <a:srgbClr val="3F4655"/>
                </a:solidFill>
                <a:latin typeface="Calibri"/>
              </a:rPr>
              <a:t>The five specialists are the cheap part — they summarise a pre-computed briefing. Risk and Strategy dominate both cost and latency, because they reason over every finding at once. That is why those two agents are the ones given a higher reasoning-effort setting by default.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F6F54"/>
                </a:solidFill>
                <a:latin typeface="Calibri"/>
              </a:rPr>
              <a:t>Verified end to end on OpenAI (gpt-5.6-luna): all nine agents succeeded on a question never run before, with every figure reconciling to the raw files.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9A8C"/>
                </a:solidFill>
                <a:latin typeface="Calibri"/>
              </a:rPr>
              <a:t>In one sentence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Nine agents, one decision, every number auditable.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9692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D5DAE1"/>
                </a:solidFill>
                <a:latin typeface="Calibri"/>
              </a:rPr>
              <a:t>—  Numbers are computed in code, never by a model — and verified 9 of 9 against the raw files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D5DAE1"/>
                </a:solidFill>
                <a:latin typeface="Calibri"/>
              </a:rPr>
              <a:t>—  Specialists work in parallel on separate evidence, then are forced into one recommendation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D5DAE1"/>
                </a:solidFill>
                <a:latin typeface="Calibri"/>
              </a:rPr>
              <a:t>—  Disagreement between agents is resolved explicitly, not averaged away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D5DAE1"/>
                </a:solidFill>
                <a:latin typeface="Calibri"/>
              </a:rPr>
              <a:t>—  An independent judge grades the result against the evidence it was built from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D5DAE1"/>
                </a:solidFill>
                <a:latin typeface="Calibri"/>
              </a:rPr>
              <a:t>—  Every framework omission is argued: three dependencies, no vector database, no agent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8064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9AA1AC"/>
                </a:solidFill>
                <a:latin typeface="Calibri"/>
              </a:rPr>
              <a:t>Rangavajhala</a:t>
            </a:r>
            <a:r>
              <a:rPr sz="1400" b="0" i="0" dirty="0">
                <a:solidFill>
                  <a:srgbClr val="9AA1AC"/>
                </a:solidFill>
                <a:latin typeface="Calibri"/>
              </a:rPr>
              <a:t> Anirudh  ·  24MDA067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1762</Words>
  <Application>Microsoft Office PowerPoint</Application>
  <PresentationFormat>Widescreen</PresentationFormat>
  <Paragraphs>233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Anirudh R</cp:lastModifiedBy>
  <cp:revision>1</cp:revision>
  <dcterms:created xsi:type="dcterms:W3CDTF">2013-01-27T09:14:16Z</dcterms:created>
  <dcterms:modified xsi:type="dcterms:W3CDTF">2026-08-08T19:32:00Z</dcterms:modified>
  <cp:category/>
</cp:coreProperties>
</file>